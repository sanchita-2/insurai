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  <p:embeddedFont>
      <p:font typeface="ITC Avant Garde Gothic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55309" y="-67104"/>
            <a:ext cx="3286114" cy="2191607"/>
          </a:xfrm>
          <a:custGeom>
            <a:avLst/>
            <a:gdLst/>
            <a:ahLst/>
            <a:cxnLst/>
            <a:rect l="l" t="t" r="r" b="b"/>
            <a:pathLst>
              <a:path w="3286114" h="2191607">
                <a:moveTo>
                  <a:pt x="0" y="0"/>
                </a:moveTo>
                <a:lnTo>
                  <a:pt x="3286114" y="0"/>
                </a:lnTo>
                <a:lnTo>
                  <a:pt x="3286114" y="2191608"/>
                </a:lnTo>
                <a:lnTo>
                  <a:pt x="0" y="219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875" t="-79191" r="-120034" b="-110867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1221212" y="3220212"/>
            <a:ext cx="10287000" cy="3846577"/>
          </a:xfrm>
          <a:custGeom>
            <a:avLst/>
            <a:gdLst/>
            <a:ahLst/>
            <a:cxnLst/>
            <a:rect l="l" t="t" r="r" b="b"/>
            <a:pathLst>
              <a:path w="10287000" h="3846577">
                <a:moveTo>
                  <a:pt x="0" y="0"/>
                </a:moveTo>
                <a:lnTo>
                  <a:pt x="10287000" y="0"/>
                </a:lnTo>
                <a:lnTo>
                  <a:pt x="10287000" y="3846576"/>
                </a:lnTo>
                <a:lnTo>
                  <a:pt x="0" y="3846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166" t="-75389" r="-1908" b="-3855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445860" y="-563922"/>
            <a:ext cx="5219106" cy="2823846"/>
            <a:chOff x="0" y="0"/>
            <a:chExt cx="6958808" cy="3765128"/>
          </a:xfrm>
        </p:grpSpPr>
        <p:sp>
          <p:nvSpPr>
            <p:cNvPr id="5" name="TextBox 5"/>
            <p:cNvSpPr txBox="1"/>
            <p:nvPr/>
          </p:nvSpPr>
          <p:spPr>
            <a:xfrm>
              <a:off x="0" y="1727837"/>
              <a:ext cx="6958808" cy="2037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99"/>
                </a:lnSpc>
              </a:pPr>
              <a:r>
                <a:rPr lang="en-US" sz="9999" spc="-299">
                  <a:solidFill>
                    <a:srgbClr val="FF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InsurAI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09550"/>
              <a:ext cx="6958808" cy="1274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189334" y="2164674"/>
            <a:ext cx="1312177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1"/>
              </a:lnSpc>
              <a:spcBef>
                <a:spcPct val="0"/>
              </a:spcBef>
            </a:pPr>
            <a:r>
              <a:rPr lang="en-US" sz="4792" spc="-14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Intelligent insurance management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4499" y="6910124"/>
            <a:ext cx="5937052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29"/>
              </a:lnSpc>
              <a:spcBef>
                <a:spcPct val="0"/>
              </a:spcBef>
            </a:pPr>
            <a:r>
              <a:rPr lang="en-US" sz="7108" spc="-21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presented by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1030124" y="8024549"/>
            <a:ext cx="8866298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3"/>
              </a:lnSpc>
              <a:spcBef>
                <a:spcPct val="0"/>
              </a:spcBef>
            </a:pPr>
            <a:r>
              <a:rPr lang="en-US" sz="5453" spc="-163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SANCHITA KUMARI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542581" y="8881799"/>
            <a:ext cx="8378755" cy="676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7"/>
              </a:lnSpc>
              <a:spcBef>
                <a:spcPct val="0"/>
              </a:spcBef>
            </a:pPr>
            <a:r>
              <a:rPr lang="en-US" sz="3956" spc="-118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Intern at Infosys Springboard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16462" y="0"/>
            <a:ext cx="4871538" cy="2378639"/>
          </a:xfrm>
          <a:custGeom>
            <a:avLst/>
            <a:gdLst/>
            <a:ahLst/>
            <a:cxnLst/>
            <a:rect l="l" t="t" r="r" b="b"/>
            <a:pathLst>
              <a:path w="4871538" h="2378639">
                <a:moveTo>
                  <a:pt x="0" y="0"/>
                </a:moveTo>
                <a:lnTo>
                  <a:pt x="4871538" y="0"/>
                </a:lnTo>
                <a:lnTo>
                  <a:pt x="4871538" y="2378639"/>
                </a:lnTo>
                <a:lnTo>
                  <a:pt x="0" y="237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38" t="-50411" b="-6102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8972" y="815003"/>
            <a:ext cx="112014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Overview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5557" y="2680396"/>
            <a:ext cx="17972443" cy="815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InsurAI is a full stack web application designed to streamline and simplify insurance management.</a:t>
            </a: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Core Function: It provides a unified digital platform connecting:</a:t>
            </a: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Insurance Agents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Policyholders (Users)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5074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Admins</a:t>
            </a:r>
          </a:p>
          <a:p>
            <a:pPr algn="l">
              <a:lnSpc>
                <a:spcPts val="5074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r>
              <a:rPr lang="en-US" sz="4092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Primary Goal: To digitalize and manage policy tracking, approval workflows,and essential communication in a single, efficient system.</a:t>
            </a: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  <a:p>
            <a:pPr algn="l">
              <a:lnSpc>
                <a:spcPts val="4911"/>
              </a:lnSpc>
              <a:spcBef>
                <a:spcPct val="0"/>
              </a:spcBef>
            </a:pPr>
            <a:endParaRPr lang="en-US" sz="4092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66750"/>
            <a:ext cx="7215365" cy="232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81"/>
              </a:lnSpc>
              <a:spcBef>
                <a:spcPct val="0"/>
              </a:spcBef>
            </a:pPr>
            <a:r>
              <a:rPr lang="en-US" sz="8381" spc="-251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3472177"/>
            <a:ext cx="12631999" cy="37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Traditional insurance management is manual and time-consuming </a:t>
            </a:r>
          </a:p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Agents struggle to manage clients efficiently. </a:t>
            </a:r>
          </a:p>
          <a:p>
            <a:pPr marL="885241" lvl="1" indent="-442620" algn="l">
              <a:lnSpc>
                <a:spcPts val="4838"/>
              </a:lnSpc>
              <a:buFont typeface="Arial"/>
              <a:buChar char="•"/>
            </a:pPr>
            <a:r>
              <a:rPr lang="en-US" sz="41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Policyholders face delays in approvals and updates. Admins lack a centralized system for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9195" y="540527"/>
            <a:ext cx="8324850" cy="1933380"/>
            <a:chOff x="0" y="0"/>
            <a:chExt cx="11099800" cy="257784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000"/>
                </a:lnSpc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Working of InsurAI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86346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48365" y="2464382"/>
            <a:ext cx="11062299" cy="66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420" lvl="1" indent="-464210" algn="l">
              <a:lnSpc>
                <a:spcPts val="4300"/>
              </a:lnSpc>
              <a:buFont typeface="Arial"/>
              <a:buChar char="•"/>
            </a:pPr>
            <a:r>
              <a:rPr lang="en-US" sz="4300" spc="-12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 Registration &amp; Login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64522" y="3174318"/>
            <a:ext cx="10938304" cy="974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Users and agents can register with role-based access.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248365" y="4604334"/>
            <a:ext cx="3877866" cy="64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6830" lvl="1" indent="-453415" algn="ctr">
              <a:lnSpc>
                <a:spcPts val="4200"/>
              </a:lnSpc>
              <a:buFont typeface="Arial"/>
              <a:buChar char="•"/>
            </a:pPr>
            <a:r>
              <a:rPr lang="en-US" sz="4200" spc="-126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82284" y="5168220"/>
            <a:ext cx="11220542" cy="271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Fetch user data and appointments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Manage policies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Approve /reject agents</a:t>
            </a:r>
          </a:p>
          <a:p>
            <a:pPr algn="l">
              <a:lnSpc>
                <a:spcPts val="4233"/>
              </a:lnSpc>
            </a:pPr>
            <a:endParaRPr lang="en-US" sz="3414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82284" y="7570602"/>
            <a:ext cx="11220542" cy="2201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Agents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Fetch user data and appointments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Approve or reject appoitments</a:t>
            </a:r>
          </a:p>
          <a:p>
            <a:pPr algn="l">
              <a:lnSpc>
                <a:spcPts val="4233"/>
              </a:lnSpc>
            </a:pPr>
            <a:endParaRPr lang="en-US" sz="3414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734390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Policy Management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4225" y="3587592"/>
            <a:ext cx="1075848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can perform CRUD operations on the policies.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0" y="4572000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Approval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8330" y="3849530"/>
            <a:ext cx="952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694225" y="5507831"/>
            <a:ext cx="7694563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approves/rejects user requests.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6460331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Notification system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4225" y="7393781"/>
            <a:ext cx="1274638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 real time notification system is enabled for users and agents 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8165306"/>
            <a:ext cx="645890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3" lvl="1" indent="-464181" algn="ctr">
              <a:lnSpc>
                <a:spcPts val="5159"/>
              </a:lnSpc>
              <a:buFont typeface="Arial"/>
              <a:buChar char="•"/>
            </a:pPr>
            <a:r>
              <a:rPr lang="en-US" sz="4299" spc="-128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 chat system       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225" y="9086850"/>
            <a:ext cx="1570032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3499" spc="-10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 chat system with voice recognition  is implemeted in  the project               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225" y="265642"/>
            <a:ext cx="11220542" cy="271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Fetch Policies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Buy policies </a:t>
            </a:r>
          </a:p>
          <a:p>
            <a:pPr marL="737162" lvl="1" indent="-368581" algn="l">
              <a:lnSpc>
                <a:spcPts val="4233"/>
              </a:lnSpc>
              <a:buFont typeface="Arial"/>
              <a:buChar char="•"/>
            </a:pPr>
            <a:r>
              <a:rPr lang="en-US" sz="341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Schedule appointments</a:t>
            </a:r>
          </a:p>
          <a:p>
            <a:pPr algn="l">
              <a:lnSpc>
                <a:spcPts val="4233"/>
              </a:lnSpc>
            </a:pPr>
            <a:endParaRPr lang="en-US" sz="3414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9728" y="0"/>
            <a:ext cx="12698350" cy="4456272"/>
          </a:xfrm>
          <a:custGeom>
            <a:avLst/>
            <a:gdLst/>
            <a:ahLst/>
            <a:cxnLst/>
            <a:rect l="l" t="t" r="r" b="b"/>
            <a:pathLst>
              <a:path w="12698350" h="4456272">
                <a:moveTo>
                  <a:pt x="0" y="0"/>
                </a:moveTo>
                <a:lnTo>
                  <a:pt x="12698349" y="0"/>
                </a:lnTo>
                <a:lnTo>
                  <a:pt x="12698349" y="4456272"/>
                </a:lnTo>
                <a:lnTo>
                  <a:pt x="0" y="4456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26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97790" y="4834940"/>
            <a:ext cx="11395926" cy="4901921"/>
          </a:xfrm>
          <a:custGeom>
            <a:avLst/>
            <a:gdLst/>
            <a:ahLst/>
            <a:cxnLst/>
            <a:rect l="l" t="t" r="r" b="b"/>
            <a:pathLst>
              <a:path w="11395926" h="4901921">
                <a:moveTo>
                  <a:pt x="0" y="0"/>
                </a:moveTo>
                <a:lnTo>
                  <a:pt x="11395926" y="0"/>
                </a:lnTo>
                <a:lnTo>
                  <a:pt x="11395926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6" t="-1256" r="-1384" b="-1256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9334"/>
            <a:ext cx="12698350" cy="5593107"/>
          </a:xfrm>
          <a:custGeom>
            <a:avLst/>
            <a:gdLst/>
            <a:ahLst/>
            <a:cxnLst/>
            <a:rect l="l" t="t" r="r" b="b"/>
            <a:pathLst>
              <a:path w="12698350" h="5593107">
                <a:moveTo>
                  <a:pt x="0" y="0"/>
                </a:moveTo>
                <a:lnTo>
                  <a:pt x="12698350" y="0"/>
                </a:lnTo>
                <a:lnTo>
                  <a:pt x="12698350" y="5593107"/>
                </a:lnTo>
                <a:lnTo>
                  <a:pt x="0" y="55931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182" b="-84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143500"/>
            <a:ext cx="12698350" cy="5569502"/>
          </a:xfrm>
          <a:custGeom>
            <a:avLst/>
            <a:gdLst/>
            <a:ahLst/>
            <a:cxnLst/>
            <a:rect l="l" t="t" r="r" b="b"/>
            <a:pathLst>
              <a:path w="12698350" h="5569502">
                <a:moveTo>
                  <a:pt x="0" y="0"/>
                </a:moveTo>
                <a:lnTo>
                  <a:pt x="12698350" y="0"/>
                </a:lnTo>
                <a:lnTo>
                  <a:pt x="12698350" y="5569502"/>
                </a:lnTo>
                <a:lnTo>
                  <a:pt x="0" y="5569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953" b="-6232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1350" y="-14342"/>
            <a:ext cx="11175036" cy="5157842"/>
          </a:xfrm>
          <a:custGeom>
            <a:avLst/>
            <a:gdLst/>
            <a:ahLst/>
            <a:cxnLst/>
            <a:rect l="l" t="t" r="r" b="b"/>
            <a:pathLst>
              <a:path w="11175036" h="5157842">
                <a:moveTo>
                  <a:pt x="0" y="0"/>
                </a:moveTo>
                <a:lnTo>
                  <a:pt x="11175036" y="0"/>
                </a:lnTo>
                <a:lnTo>
                  <a:pt x="11175036" y="5157842"/>
                </a:lnTo>
                <a:lnTo>
                  <a:pt x="0" y="5157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742" r="-1129" b="-550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143500"/>
            <a:ext cx="10347951" cy="4788560"/>
          </a:xfrm>
          <a:custGeom>
            <a:avLst/>
            <a:gdLst/>
            <a:ahLst/>
            <a:cxnLst/>
            <a:rect l="l" t="t" r="r" b="b"/>
            <a:pathLst>
              <a:path w="10347951" h="4788560">
                <a:moveTo>
                  <a:pt x="0" y="0"/>
                </a:moveTo>
                <a:lnTo>
                  <a:pt x="10347951" y="0"/>
                </a:lnTo>
                <a:lnTo>
                  <a:pt x="10347951" y="4788560"/>
                </a:lnTo>
                <a:lnTo>
                  <a:pt x="0" y="4788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7" t="-17413" r="-322" b="-527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095505" y="5143500"/>
            <a:ext cx="8192495" cy="5143500"/>
          </a:xfrm>
          <a:custGeom>
            <a:avLst/>
            <a:gdLst/>
            <a:ahLst/>
            <a:cxnLst/>
            <a:rect l="l" t="t" r="r" b="b"/>
            <a:pathLst>
              <a:path w="8192495" h="5143500">
                <a:moveTo>
                  <a:pt x="0" y="0"/>
                </a:moveTo>
                <a:lnTo>
                  <a:pt x="8192495" y="0"/>
                </a:lnTo>
                <a:lnTo>
                  <a:pt x="819249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669" r="-68181" b="-23937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16923" y="682557"/>
            <a:ext cx="3770653" cy="4114800"/>
          </a:xfrm>
          <a:custGeom>
            <a:avLst/>
            <a:gdLst/>
            <a:ahLst/>
            <a:cxnLst/>
            <a:rect l="l" t="t" r="r" b="b"/>
            <a:pathLst>
              <a:path w="3770653" h="4114800">
                <a:moveTo>
                  <a:pt x="0" y="0"/>
                </a:moveTo>
                <a:lnTo>
                  <a:pt x="3770654" y="0"/>
                </a:lnTo>
                <a:lnTo>
                  <a:pt x="3770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33272" y="5030048"/>
            <a:ext cx="8967304" cy="5256952"/>
          </a:xfrm>
          <a:custGeom>
            <a:avLst/>
            <a:gdLst/>
            <a:ahLst/>
            <a:cxnLst/>
            <a:rect l="l" t="t" r="r" b="b"/>
            <a:pathLst>
              <a:path w="8967304" h="5256952">
                <a:moveTo>
                  <a:pt x="0" y="0"/>
                </a:moveTo>
                <a:lnTo>
                  <a:pt x="8967303" y="0"/>
                </a:lnTo>
                <a:lnTo>
                  <a:pt x="8967303" y="5256952"/>
                </a:lnTo>
                <a:lnTo>
                  <a:pt x="0" y="52569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051" r="-15397" b="-1765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7113" y="2876546"/>
            <a:ext cx="9155609" cy="434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Frontend: React (Vite)+CSS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Backend: Spring Boot (Java) </a:t>
            </a:r>
          </a:p>
          <a:p>
            <a:pPr marL="950009" lvl="1" indent="-475005" algn="l">
              <a:lnSpc>
                <a:spcPts val="5544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Database: MySQL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API: RESTful endpoints </a:t>
            </a:r>
          </a:p>
          <a:p>
            <a:pPr marL="971599" lvl="1" indent="-485799" algn="l">
              <a:lnSpc>
                <a:spcPts val="567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Security: Role-based access </a:t>
            </a:r>
          </a:p>
          <a:p>
            <a:pPr algn="l">
              <a:lnSpc>
                <a:spcPts val="5670"/>
              </a:lnSpc>
            </a:pPr>
            <a:r>
              <a:rPr lang="en-US" sz="45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    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024" y="740867"/>
            <a:ext cx="8092976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Technology stack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72423"/>
            <a:ext cx="40005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  <a:spcBef>
                <a:spcPct val="0"/>
              </a:spcBef>
            </a:pPr>
            <a:r>
              <a:rPr lang="en-US" sz="6800" spc="-204" dirty="0" smtClean="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Features</a:t>
            </a:r>
            <a:endParaRPr lang="en-US" sz="6800" spc="-204" dirty="0">
              <a:solidFill>
                <a:srgbClr val="000000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2388" y="2700301"/>
            <a:ext cx="13170396" cy="4232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Role-based dashboards (Admin, Agent, User)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Real-time policy tracking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Simplified agent-client communication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Admin control over approvals and reporting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User-friendly interface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voice query system </a:t>
            </a:r>
          </a:p>
          <a:p>
            <a:pPr marL="928420" lvl="1" indent="-464210" algn="l">
              <a:lnSpc>
                <a:spcPts val="4687"/>
              </a:lnSpc>
              <a:buFont typeface="Arial"/>
              <a:buChar char="•"/>
            </a:pPr>
            <a:r>
              <a:rPr lang="en-US" sz="43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Appointment Scheduling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89134" y="5894556"/>
            <a:ext cx="5832835" cy="4114800"/>
          </a:xfrm>
          <a:custGeom>
            <a:avLst/>
            <a:gdLst/>
            <a:ahLst/>
            <a:cxnLst/>
            <a:rect l="l" t="t" r="r" b="b"/>
            <a:pathLst>
              <a:path w="5832835" h="4114800">
                <a:moveTo>
                  <a:pt x="0" y="0"/>
                </a:moveTo>
                <a:lnTo>
                  <a:pt x="5832835" y="0"/>
                </a:lnTo>
                <a:lnTo>
                  <a:pt x="58328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14450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66750" y="657225"/>
            <a:ext cx="14077950" cy="1198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7800" spc="-234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Scope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2292201"/>
            <a:ext cx="11618732" cy="360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Integration with payment gateways for online premium payments </a:t>
            </a:r>
          </a:p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Mobile app development for on-the-go access</a:t>
            </a:r>
          </a:p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Al-driven policy recommendations for users </a:t>
            </a:r>
          </a:p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Analytics dashboard for agents and admins</a:t>
            </a:r>
          </a:p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Expansion to insurance claim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20336"/>
            <a:ext cx="12787489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890" y="2532632"/>
            <a:ext cx="18288000" cy="2610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Insurai bridges the gap between agents and policyholders.</a:t>
            </a:r>
          </a:p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Enhances efficiency, transparency, and user experience.</a:t>
            </a:r>
          </a:p>
          <a:p>
            <a:pPr marL="950009" lvl="1" indent="-475005" algn="l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improvements can make it a complete digital insurance ecosystem.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2A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9721" y="4689475"/>
            <a:ext cx="6088559" cy="1060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spc="-24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Thanking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Microsoft Office PowerPoint</Application>
  <PresentationFormat>Custom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Canva Sans</vt:lpstr>
      <vt:lpstr>ITC Avant Garde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AI Integration</dc:title>
  <cp:lastModifiedBy>intel</cp:lastModifiedBy>
  <cp:revision>2</cp:revision>
  <dcterms:created xsi:type="dcterms:W3CDTF">2006-08-16T00:00:00Z</dcterms:created>
  <dcterms:modified xsi:type="dcterms:W3CDTF">2025-12-19T08:14:05Z</dcterms:modified>
  <dc:identifier>DAG7HA9Y_Eg</dc:identifier>
</cp:coreProperties>
</file>